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3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65" r:id="rId15"/>
    <p:sldId id="266" r:id="rId16"/>
    <p:sldId id="281" r:id="rId17"/>
    <p:sldId id="284" r:id="rId18"/>
    <p:sldId id="282" r:id="rId19"/>
    <p:sldId id="279" r:id="rId20"/>
    <p:sldId id="280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A28CB5-CF3D-4DA6-823F-509F86E9B756}" v="15" dt="2026-05-14T03:50:36.69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14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3333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3333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9300" y="542035"/>
            <a:ext cx="7857490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54175" y="1862939"/>
            <a:ext cx="9925050" cy="3868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3333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73443452" TargetMode="External"/><Relationship Id="rId7" Type="http://schemas.openxmlformats.org/officeDocument/2006/relationships/hyperlink" Target="https://github.com/hkdprojects/CyberShield-Smart-Network-Security-System" TargetMode="External"/><Relationship Id="rId2" Type="http://schemas.openxmlformats.org/officeDocument/2006/relationships/hyperlink" Target="https://arxiv.org/pdf/2207.09092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1877050924009979?utm_source=chatgpt.com" TargetMode="External"/><Relationship Id="rId5" Type="http://schemas.openxmlformats.org/officeDocument/2006/relationships/hyperlink" Target="https://www.mdpi.com/2079-9292/14/3/608?utm_source=chatgpt.com" TargetMode="External"/><Relationship Id="rId4" Type="http://schemas.openxmlformats.org/officeDocument/2006/relationships/hyperlink" Target="https://pmc.ncbi.nlm.nih.gov/articles/PMC9920825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151558" y="2743200"/>
            <a:ext cx="6187148" cy="1563248"/>
          </a:xfrm>
          <a:prstGeom prst="rect">
            <a:avLst/>
          </a:prstGeom>
        </p:spPr>
        <p:txBody>
          <a:bodyPr vert="horz" wrap="square" lIns="0" tIns="290830" rIns="0" bIns="0" rtlCol="0">
            <a:spAutoFit/>
          </a:bodyPr>
          <a:lstStyle/>
          <a:p>
            <a:pPr marL="128270" algn="ctr">
              <a:lnSpc>
                <a:spcPct val="100000"/>
              </a:lnSpc>
              <a:spcBef>
                <a:spcPts val="2290"/>
              </a:spcBef>
            </a:pPr>
            <a:r>
              <a:rPr sz="5400" spc="-30" dirty="0" err="1">
                <a:latin typeface="Arial" panose="020B0604020202020204" pitchFamily="34" charset="0"/>
                <a:cs typeface="Arial" panose="020B0604020202020204" pitchFamily="34" charset="0"/>
              </a:rPr>
              <a:t>CyberShield</a:t>
            </a:r>
            <a:endParaRPr sz="5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850"/>
              </a:spcBef>
            </a:pPr>
            <a:r>
              <a:rPr lang="en-US" sz="2100" b="0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100" b="0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AI-Based</a:t>
            </a:r>
            <a:r>
              <a:rPr sz="2100" b="0" spc="-30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100" b="0" spc="60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</a:t>
            </a:r>
            <a:r>
              <a:rPr sz="2100" b="0" spc="-30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Network Security </a:t>
            </a:r>
            <a:r>
              <a:rPr sz="2100" b="0" spc="-10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0736" y="4594542"/>
            <a:ext cx="4029734" cy="1128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8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GUIDED</a:t>
            </a:r>
            <a:r>
              <a:rPr sz="2000" b="1" spc="-7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35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sz="15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5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r.</a:t>
            </a:r>
            <a:r>
              <a:rPr sz="1500" b="1" spc="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spc="5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Prasanna</a:t>
            </a:r>
            <a:r>
              <a:rPr sz="1500" b="1" spc="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Kumar</a:t>
            </a:r>
            <a:r>
              <a:rPr sz="1500" b="1" spc="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500" b="1" spc="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1" spc="6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75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</a:t>
            </a:r>
            <a:r>
              <a:rPr sz="1500" spc="5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spc="50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Professor,</a:t>
            </a:r>
            <a:r>
              <a:rPr sz="1500" spc="5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</a:t>
            </a:r>
            <a:r>
              <a:rPr sz="1500" spc="5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spc="70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500" spc="5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spc="55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CS&amp;E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72400" y="4594542"/>
            <a:ext cx="269586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</a:t>
            </a:r>
            <a:r>
              <a:rPr sz="2000" b="1" spc="105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b="1" spc="-1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b="1" spc="-1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EMBERS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72400" y="5029200"/>
            <a:ext cx="3276600" cy="9746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lang="en-IN" sz="1500" b="1" spc="5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Adarsha J P	</a:t>
            </a:r>
            <a:r>
              <a:rPr lang="en-IN" sz="1500" spc="5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IN" sz="15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4PS23CS400]</a:t>
            </a:r>
            <a:endParaRPr lang="en-IN" sz="1500" b="1" spc="55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l">
              <a:spcBef>
                <a:spcPts val="100"/>
              </a:spcBef>
            </a:pPr>
            <a:r>
              <a:rPr lang="en-IN" sz="1500" b="1" spc="5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Chandan</a:t>
            </a:r>
            <a:r>
              <a:rPr lang="en-IN" sz="1500" b="1" spc="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500" b="1" spc="10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IN" sz="1500" b="1" spc="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500" b="1" spc="6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IN" sz="1500" spc="6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15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[4PS23CS403]</a:t>
            </a:r>
            <a:endParaRPr lang="en-IN" sz="1500" spc="65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l">
              <a:spcBef>
                <a:spcPts val="100"/>
              </a:spcBef>
            </a:pPr>
            <a:r>
              <a:rPr lang="en-IN" sz="15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Harsha</a:t>
            </a:r>
            <a:r>
              <a:rPr lang="en-IN" sz="1500" b="1" spc="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5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Kumar</a:t>
            </a:r>
            <a:r>
              <a:rPr lang="en-IN" sz="1500" b="1" spc="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5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IN" sz="15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[4PS23CS405]</a:t>
            </a:r>
          </a:p>
          <a:p>
            <a:pPr marL="12700" algn="l">
              <a:spcBef>
                <a:spcPts val="100"/>
              </a:spcBef>
            </a:pPr>
            <a:r>
              <a:rPr lang="en-IN" sz="15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Rohan</a:t>
            </a:r>
            <a:r>
              <a:rPr lang="en-IN" sz="1500" b="1" spc="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500" b="1" spc="15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IN" sz="1500" b="1" spc="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500" b="1" spc="5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IN" sz="1500" spc="5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15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[4PS23CS413]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8BCACD-3697-A193-13DF-139BC9C7B266}"/>
              </a:ext>
            </a:extLst>
          </p:cNvPr>
          <p:cNvSpPr txBox="1"/>
          <p:nvPr/>
        </p:nvSpPr>
        <p:spPr>
          <a:xfrm>
            <a:off x="1752600" y="470950"/>
            <a:ext cx="8985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 COLLEGE OF ENGINEERING MANDYA -571401</a:t>
            </a:r>
            <a:endParaRPr lang="en-IN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EEDAC8-D7F6-26C8-0A4D-B6E50F4F808F}"/>
              </a:ext>
            </a:extLst>
          </p:cNvPr>
          <p:cNvSpPr txBox="1"/>
          <p:nvPr/>
        </p:nvSpPr>
        <p:spPr>
          <a:xfrm>
            <a:off x="3042790" y="1382064"/>
            <a:ext cx="60946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&amp; ENGINEERING</a:t>
            </a:r>
            <a:endParaRPr lang="en-IN" sz="2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F67F2C92-0C4A-F13F-B288-4F0B49319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962"/>
            <a:ext cx="1769066" cy="158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Cs-Dept-Logo-Final">
            <a:extLst>
              <a:ext uri="{FF2B5EF4-FFF2-40B4-BE49-F238E27FC236}">
                <a16:creationId xmlns:a16="http://schemas.microsoft.com/office/drawing/2014/main" id="{9BCC9715-6F77-CF0C-1249-9E24A6950DE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5208" r="7292" b="9184"/>
          <a:stretch>
            <a:fillRect/>
          </a:stretch>
        </p:blipFill>
        <p:spPr>
          <a:xfrm>
            <a:off x="10820400" y="197596"/>
            <a:ext cx="1122490" cy="1184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10800" y="304800"/>
            <a:ext cx="7895990" cy="528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roblem Statement </a:t>
            </a:r>
            <a:endParaRPr sz="3200" spc="4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6088BBF-9106-A9D6-1E4F-AD22D013BB63}"/>
              </a:ext>
            </a:extLst>
          </p:cNvPr>
          <p:cNvSpPr>
            <a:spLocks noGrp="1"/>
          </p:cNvSpPr>
          <p:nvPr/>
        </p:nvSpPr>
        <p:spPr>
          <a:xfrm>
            <a:off x="990600" y="1066800"/>
            <a:ext cx="10591801" cy="47919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  <a:defRPr sz="2000">
                <a:solidFill>
                  <a:srgbClr val="282828"/>
                </a:solidFill>
              </a:defRPr>
            </a:pPr>
            <a:r>
              <a:rPr sz="16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smart homes use multiple IoT devices that remain always connected to the internet - but users have no visibility or control over what those devices are doing.</a:t>
            </a:r>
            <a:endParaRPr lang="en-US" sz="1600" dirty="0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  <a:defRPr sz="2000">
                <a:solidFill>
                  <a:srgbClr val="282828"/>
                </a:solidFill>
              </a:defRPr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Key Problems:</a:t>
            </a:r>
          </a:p>
          <a:p>
            <a:pPr>
              <a:lnSpc>
                <a:spcPct val="200000"/>
              </a:lnSpc>
              <a:buClr>
                <a:schemeClr val="tx1"/>
              </a:buClr>
              <a:defRPr sz="2000">
                <a:solidFill>
                  <a:srgbClr val="282828"/>
                </a:solidFill>
              </a:defRPr>
            </a:pPr>
            <a:r>
              <a:rPr sz="18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IoT devices lack built-in advanced security.</a:t>
            </a:r>
          </a:p>
          <a:p>
            <a:pPr>
              <a:lnSpc>
                <a:spcPct val="200000"/>
              </a:lnSpc>
              <a:buClr>
                <a:schemeClr val="tx1"/>
              </a:buClr>
              <a:defRPr sz="2000">
                <a:solidFill>
                  <a:srgbClr val="282828"/>
                </a:solidFill>
              </a:defRPr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users can’t detect hidden anomalies or data misuse.</a:t>
            </a:r>
          </a:p>
          <a:p>
            <a:pPr>
              <a:lnSpc>
                <a:spcPct val="200000"/>
              </a:lnSpc>
              <a:buClr>
                <a:schemeClr val="tx1"/>
              </a:buClr>
              <a:defRPr sz="2000">
                <a:solidFill>
                  <a:srgbClr val="282828"/>
                </a:solidFill>
              </a:defRPr>
            </a:pPr>
            <a:r>
              <a:rPr sz="16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Existing antivirus/firewall tools focus only on PCs, not IoT devices.</a:t>
            </a:r>
          </a:p>
          <a:p>
            <a:pPr>
              <a:lnSpc>
                <a:spcPct val="200000"/>
              </a:lnSpc>
              <a:buClr>
                <a:schemeClr val="tx1"/>
              </a:buClr>
              <a:defRPr sz="2000">
                <a:solidFill>
                  <a:srgbClr val="282828"/>
                </a:solidFill>
              </a:defRPr>
            </a:pPr>
            <a:r>
              <a:rPr sz="16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Need for a unified, AI-driven home security monitor.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401B2-5482-40E8-E85B-1AFEA1F7B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10" y="304800"/>
            <a:ext cx="7857490" cy="492443"/>
          </a:xfrm>
        </p:spPr>
        <p:txBody>
          <a:bodyPr/>
          <a:lstStyle/>
          <a:p>
            <a:r>
              <a:rPr lang="en-IN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System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D318E-2200-CE5B-4B4D-2C727C0C4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066800"/>
            <a:ext cx="10820400" cy="5340436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Approaches:</a:t>
            </a:r>
          </a:p>
          <a:p>
            <a:pPr algn="just"/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Host-Based Antivirus: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Software installed directly on individual computers or laptops.</a:t>
            </a:r>
          </a:p>
          <a:p>
            <a:pPr lvl="1" algn="l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Standard Router Firewalls: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Basic network address translation (NAT) and static port blocking rules.</a:t>
            </a:r>
          </a:p>
          <a:p>
            <a:pPr algn="l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Limitations (The Disadvantages):</a:t>
            </a:r>
          </a:p>
          <a:p>
            <a:pPr algn="l"/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PC-Centric Limitations: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Traditional tools completely ignore headless IoT devices like smart cameras, smart TVs, and sensors.</a:t>
            </a:r>
          </a:p>
          <a:p>
            <a:pPr lvl="1" algn="l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No Real-Time Traffic Isolation: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Legacy home systems cannot automatically quarantine a single compromised device at the kernel level if an anomaly is found.</a:t>
            </a:r>
          </a:p>
          <a:p>
            <a:pPr lvl="1" algn="l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Lack of Behavioral AI: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 firewalls only look for known signatures and fail to catch modern, zero-day behavioral anomalies.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81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2AF34-87A1-CB4E-3E4F-C57EFC12C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304800"/>
            <a:ext cx="7857490" cy="507831"/>
          </a:xfrm>
        </p:spPr>
        <p:txBody>
          <a:bodyPr/>
          <a:lstStyle/>
          <a:p>
            <a:r>
              <a:rPr lang="en-IN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09D23-9FE6-1CE2-6991-E7ED2EC5F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7900" y="1066800"/>
            <a:ext cx="10528300" cy="4916731"/>
          </a:xfrm>
        </p:spPr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endPara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>
              <a:lnSpc>
                <a:spcPct val="150000"/>
              </a:lnSpc>
              <a:defRPr sz="2000">
                <a:solidFill>
                  <a:srgbClr val="282828"/>
                </a:solidFill>
              </a:defRPr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design and develop a smart, AI-based network security system that monitors all connected IoT devices in real time, detects suspicious behaviour, and alerts users immediately.</a:t>
            </a:r>
          </a:p>
          <a:p>
            <a:pPr lvl="1" algn="l">
              <a:defRPr sz="2000">
                <a:solidFill>
                  <a:srgbClr val="282828"/>
                </a:solidFill>
              </a:defRPr>
            </a:pP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 sz="2000">
                <a:solidFill>
                  <a:srgbClr val="282828"/>
                </a:solidFill>
              </a:defRPr>
            </a:pPr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Objectives: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 real-time network traffic of IoT devices.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endParaRPr lang="en-IN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 unusual activity using ML-based anomaly detection.</a:t>
            </a:r>
          </a:p>
          <a:p>
            <a:pPr marL="800100" lvl="1" indent="-342900" algn="l"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endParaRPr lang="en-IN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an easy-to-use dashboard for users.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endParaRPr lang="en-IN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 automatic isolation of infected devices.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endParaRPr lang="en-IN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awareness and trust for secure smart living.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06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CDBAC-BDED-5A01-3B15-EC41F5495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304800"/>
            <a:ext cx="7857490" cy="492443"/>
          </a:xfrm>
        </p:spPr>
        <p:txBody>
          <a:bodyPr/>
          <a:lstStyle/>
          <a:p>
            <a:r>
              <a:rPr lang="en-US" alt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Requirements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0B33A-6948-FDDA-FD12-EAAA69BF6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607559"/>
            <a:ext cx="3975100" cy="3400931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Requirements: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 Discovery</a:t>
            </a:r>
          </a:p>
          <a:p>
            <a:pPr marL="34290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Traffic Capture</a:t>
            </a:r>
          </a:p>
          <a:p>
            <a:pPr marL="34290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Threat Detection Engine</a:t>
            </a:r>
          </a:p>
          <a:p>
            <a:pPr marL="34290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Alert generation and Notification</a:t>
            </a:r>
          </a:p>
          <a:p>
            <a:pPr marL="34290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Hub</a:t>
            </a:r>
          </a:p>
          <a:p>
            <a:pPr marL="34290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CSV files for Logs and History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113276-A8D3-09BE-D441-9EFD367E0933}"/>
              </a:ext>
            </a:extLst>
          </p:cNvPr>
          <p:cNvSpPr txBox="1"/>
          <p:nvPr/>
        </p:nvSpPr>
        <p:spPr>
          <a:xfrm>
            <a:off x="6400802" y="1540875"/>
            <a:ext cx="4356100" cy="353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buSzPts val="2000"/>
            </a:pPr>
            <a:r>
              <a:rPr lang="en-US" sz="2000" b="1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Non-Functional Requirements:</a:t>
            </a:r>
          </a:p>
          <a:p>
            <a:pPr eaLnBrk="0" fontAlgn="base" hangingPunct="0">
              <a:buSzPts val="2000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performance (low latency)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 ≥ 90%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Scalable architecture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User-friendly interface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Reliable data storage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Easy maintenance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Portable and flexible system</a:t>
            </a:r>
            <a:endParaRPr lang="en-IN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934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2E577-DED5-3CBC-6388-23E115095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7857490" cy="507831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  <a:endParaRPr lang="en-IN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7B64A9-E1E2-4F6E-4AF5-53B6F518B8B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143000"/>
            <a:ext cx="96774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018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3A13E-62B0-AE79-47EA-048B4A8A2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304800"/>
            <a:ext cx="7857490" cy="507831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 Diagram</a:t>
            </a:r>
            <a:endParaRPr lang="en-IN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44D9D6-C32E-FE5C-2C61-6129BEB21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021" y="1380770"/>
            <a:ext cx="9127958" cy="492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87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19B98-D4DD-32C8-DDE2-30F0FEC3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4175" y="1862939"/>
            <a:ext cx="9925050" cy="409798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Main: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Orchestrates global system data flow.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Sniffer: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Intercepts real-time network packets.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Detector: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Analyzes traffic for security threats.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Mitigator: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Automatically isolates malicious devices.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Dashboard: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Visualizes active network security status.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628C18-5947-8710-25D2-6FD4BD6AC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304800"/>
            <a:ext cx="4813300" cy="507831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Modules of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CyberShield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013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8BDE-52D9-C534-3741-B5449333C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304800"/>
            <a:ext cx="1155700" cy="507831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endParaRPr lang="en-IN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42D11-CEAD-16F0-A0D2-BE2D6802E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5804" y="1458912"/>
            <a:ext cx="6463196" cy="4103688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def main(String interface) -&gt; int: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Function: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Calls sniffer,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detector, dashboard functions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Main.py and the Control Center act as the brain, 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managing and organizing the entire monitoring 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process.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Calls Sniffer function to captures live network data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and hands it off to other modules to scan for threats.</a:t>
            </a:r>
          </a:p>
          <a:p>
            <a:pPr algn="l">
              <a:lnSpc>
                <a:spcPct val="150000"/>
              </a:lnSpc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Return type 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F791DF-24D5-F940-4878-5ABCF5DC6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1409700"/>
            <a:ext cx="41148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2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DFE5B-186C-1DB4-158C-3A4EDBA38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25A9F-3599-BD4E-D808-41385D91C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1447800" cy="492443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Sniffer</a:t>
            </a:r>
            <a:endParaRPr lang="en-IN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1FF97-956D-83B5-96C9-13E383AE3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5804" y="1341827"/>
            <a:ext cx="6082196" cy="4601773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Method: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start_sniff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(String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interface,bpf_filter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Parameters: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String Interface, String Array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bpf_filter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Function: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captures packets for particular MAC and IP address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Main.py and the Control Center launch the process and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trigger the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start_sniff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() function to begin monitoring.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The Sniffer grabs key details (like size and protocol) and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sends them out to be analyzed for threats.</a:t>
            </a:r>
          </a:p>
          <a:p>
            <a:pPr algn="l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Return type: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Array – returns packet features in the array format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Return to: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main() function 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A2C3D3-3CBC-92AC-58D1-3F15CD147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900" y="804987"/>
            <a:ext cx="4457700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455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E6B62-246A-4369-BFF0-D88A3911C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80FF0-709D-3534-DB50-62A07E9FA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1814996" cy="492443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Detector</a:t>
            </a:r>
            <a:endParaRPr lang="en-IN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0C65F-6F57-DC29-6D43-8C140BCA8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204" y="1066800"/>
            <a:ext cx="6234596" cy="5612627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Methods: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rule_based_detector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packet feature array)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	        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ml_based_detector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packet feature array)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	        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hybrid_detector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packet features array)</a:t>
            </a:r>
          </a:p>
          <a:p>
            <a:pPr algn="l"/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Parameters: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String IP, String Array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PacketFeatures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Function: </a:t>
            </a:r>
          </a:p>
          <a:p>
            <a:pPr algn="l">
              <a:lnSpc>
                <a:spcPct val="150000"/>
              </a:lnSpc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• The Detector takes in packet data and scans it using two 	    methods: strict predefined rules and smart machine learning 	    patterns.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     	 • It analyzes the traffic and provides a final report on 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     	   whether the packet is safe or malicious.</a:t>
            </a:r>
          </a:p>
          <a:p>
            <a:pPr algn="l">
              <a:lnSpc>
                <a:spcPct val="150000"/>
              </a:lnSpc>
            </a:pP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Return type: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If threat Occurs: String array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	else: None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Return to: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if threat occurs: calls mitigator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	else: main() function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A6976F-A4BE-FA40-8E8E-10FAD5CA9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1030205"/>
            <a:ext cx="4329596" cy="498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68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6B54D-F380-049F-14D7-FF479A23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5F70A-2189-9F05-9D15-D6E7FAB6D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804" y="304800"/>
            <a:ext cx="1891196" cy="492443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Mitigator</a:t>
            </a:r>
            <a:endParaRPr lang="en-IN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E26DC-C3B0-5E82-A309-A95B02112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5804" y="1066800"/>
            <a:ext cx="5929796" cy="5791200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Methods: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quarantine(String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) -- quarantine device</a:t>
            </a:r>
          </a:p>
          <a:p>
            <a:pPr lvl="2" algn="l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log_incidents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(detection array) -- security_log.csv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2" algn="l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log_trafic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(detection array) -- traffic_log.csv</a:t>
            </a: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	•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drop_ip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(String IP) -- lift quarantine 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	•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drop_mac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(String MAC) -- lift quarantine</a:t>
            </a:r>
          </a:p>
          <a:p>
            <a:pPr algn="l"/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Parameters: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String IP, String array Detection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Functions: </a:t>
            </a:r>
          </a:p>
          <a:p>
            <a:pPr algn="l">
              <a:lnSpc>
                <a:spcPct val="150000"/>
              </a:lnSpc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dirty="0"/>
              <a:t> •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The Mitigator stops threats by blocking suspicious 	  	    addresses or quarantining dangerous devices to prevent 	    further damage.</a:t>
            </a:r>
          </a:p>
          <a:p>
            <a:pPr algn="l">
              <a:lnSpc>
                <a:spcPct val="150000"/>
              </a:lnSpc>
            </a:pPr>
            <a:r>
              <a:rPr lang="en-US" sz="1600" dirty="0"/>
              <a:t>	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/>
              <a:t>•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All incident details and traffic data are saved into CSV 	    log files so you can review and monitor them later.</a:t>
            </a:r>
          </a:p>
          <a:p>
            <a:pPr algn="l"/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Returns: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Logs traffic to traffic_log.csv</a:t>
            </a:r>
          </a:p>
          <a:p>
            <a:pPr algn="l">
              <a:lnSpc>
                <a:spcPct val="150000"/>
              </a:lnSpc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• Logs security threats to security_log.csv</a:t>
            </a:r>
            <a:endParaRPr lang="en-IN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26C2D8-784C-0897-475E-D10077979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695325"/>
            <a:ext cx="5210175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09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B53E6-CD1F-1CAB-E633-4D923CFEB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AE9E3-A58F-A287-3502-3397C0C83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2209800" cy="492443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lang="en-IN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9DA9D-0E04-6DA5-8836-6C2753F2B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962" y="1381302"/>
            <a:ext cx="6024438" cy="5617435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Methods: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read security_log.csv(file path)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dirty="0"/>
              <a:t> 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read security_log.csv(file path)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dirty="0"/>
              <a:t> •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get_connected_devices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dirty="0"/>
              <a:t> •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get_quarantine_ip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array)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dirty="0"/>
              <a:t> •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release_quarantine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l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Parameters: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String IP array and File Path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Functions: </a:t>
            </a:r>
          </a:p>
          <a:p>
            <a:pPr lvl="1" algn="l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dirty="0"/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Dashboard pulls data from the security and 	traffic 	   logs to show the admin exactly what is happening on 	   the network.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dirty="0"/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It displays all quarantined devices and gives admins 	   the power to easily unblock or release them when 	   needed.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F100EA-5621-735D-3578-A6826A48B9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066800"/>
            <a:ext cx="4800600" cy="384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675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2000" y="332933"/>
            <a:ext cx="50419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nit</a:t>
            </a:r>
            <a:r>
              <a:rPr sz="3200" spc="-114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sz="3200" spc="-114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sz="3200" spc="-114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spc="7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</a:t>
            </a:r>
            <a:endParaRPr sz="3200" spc="75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704678"/>
              </p:ext>
            </p:extLst>
          </p:nvPr>
        </p:nvGraphicFramePr>
        <p:xfrm>
          <a:off x="1066798" y="1985426"/>
          <a:ext cx="10668002" cy="35924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6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5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6906">
                  <a:extLst>
                    <a:ext uri="{9D8B030D-6E8A-4147-A177-3AD203B41FA5}">
                      <a16:colId xmlns:a16="http://schemas.microsoft.com/office/drawing/2014/main" val="683211771"/>
                    </a:ext>
                  </a:extLst>
                </a:gridCol>
              </a:tblGrid>
              <a:tr h="705489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  <a:endParaRPr lang="en-IN" sz="16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Scenario</a:t>
                      </a:r>
                      <a:endParaRPr lang="en-IN" sz="16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 Criteria</a:t>
                      </a:r>
                      <a:endParaRPr lang="en-IN" sz="16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 Criteria</a:t>
                      </a:r>
                      <a:endParaRPr lang="en-IN" sz="16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91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Packet Parsing (Sniffer)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Correctly identifies IP and Protocol headers.</a:t>
                      </a:r>
                      <a:endParaRPr lang="en-US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Crashes on raw stream or misidentifies protocol.</a:t>
                      </a:r>
                      <a:endParaRPr lang="en-US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28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en-IN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Threshold Logic (Detector)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Detection triggers True if threshold &gt; 50.</a:t>
                      </a:r>
                      <a:endParaRPr lang="en-US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Ignores high volume or returns False during surge.</a:t>
                      </a:r>
                      <a:endParaRPr lang="en-US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89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Integration</a:t>
                      </a:r>
                      <a:endParaRPr lang="en-IN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Pipeline Flow</a:t>
                      </a:r>
                      <a:endParaRPr lang="en-IN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Detector receives valid object from Sniffer.</a:t>
                      </a:r>
                      <a:endParaRPr lang="en-US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lost in queue or format becomes incompatible.</a:t>
                      </a:r>
                      <a:endParaRPr lang="en-US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970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Integration</a:t>
                      </a:r>
                      <a:endParaRPr lang="en-IN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Alert Sync</a:t>
                      </a:r>
                      <a:endParaRPr lang="en-IN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Dashboard UI updates instantly upon detection.</a:t>
                      </a:r>
                      <a:endParaRPr lang="en-US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Threat is identified but UI shows "System Clear".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49300" y="304800"/>
            <a:ext cx="67945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</a:t>
            </a:r>
            <a:r>
              <a:rPr sz="3200" spc="-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spc="7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</a:t>
            </a:r>
            <a:endParaRPr sz="3200" spc="75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482450"/>
              </p:ext>
            </p:extLst>
          </p:nvPr>
        </p:nvGraphicFramePr>
        <p:xfrm>
          <a:off x="1066800" y="2057400"/>
          <a:ext cx="10668001" cy="3580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1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8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1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212">
                  <a:extLst>
                    <a:ext uri="{9D8B030D-6E8A-4147-A177-3AD203B41FA5}">
                      <a16:colId xmlns:a16="http://schemas.microsoft.com/office/drawing/2014/main" val="1187034373"/>
                    </a:ext>
                  </a:extLst>
                </a:gridCol>
              </a:tblGrid>
              <a:tr h="629769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  <a:endParaRPr lang="en-IN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Scenario</a:t>
                      </a:r>
                      <a:endParaRPr lang="en-IN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 Criteria</a:t>
                      </a:r>
                      <a:endParaRPr lang="en-IN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 Criteria</a:t>
                      </a:r>
                      <a:endParaRPr lang="en-IN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9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Functional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Auto-Mitigation Action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 blocked automatically via iptables kernel rule.</a:t>
                      </a:r>
                      <a:endParaRPr lang="en-US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 executed but device still sends traffic.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Functional</a:t>
                      </a:r>
                      <a:endParaRPr lang="en-IN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Sniffing Start Control</a:t>
                      </a:r>
                      <a:endParaRPr lang="en-IN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Main.py initializes sniffer on correct interface ID.</a:t>
                      </a:r>
                      <a:endParaRPr lang="en-US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Sniffer fails to bind or button is unresponsive.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66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</a:t>
                      </a:r>
                      <a:endParaRPr lang="en-IN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Traffic Load</a:t>
                      </a:r>
                      <a:endParaRPr lang="en-IN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Responsive at 1000 packets/min or more; no leaks.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Program crashes, lags, or skips packet analysis.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38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Security</a:t>
                      </a:r>
                      <a:endParaRPr lang="en-IN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 Positive Guard</a:t>
                      </a:r>
                      <a:endParaRPr lang="en-IN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 safe downloads recognized as legitimate.</a:t>
                      </a:r>
                      <a:endParaRPr lang="en-US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>
                      <a:solidFill>
                        <a:srgbClr val="EEEEEE"/>
                      </a:solidFill>
                      <a:prstDash val="soli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Mitigator accidentally blocks the safe user.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EEEE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45FF0-764F-6247-45E2-BCC2F2ECE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304800"/>
            <a:ext cx="2298700" cy="507831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52E0D-E7C1-83D1-3181-98CB8F07D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3475" y="1447800"/>
            <a:ext cx="9925050" cy="490005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CyberShield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project successfully demonstrates a modular approach to network security by integrating real-time traffic sniffing, intelligent threat detection, and automated mitigation. </a:t>
            </a:r>
          </a:p>
          <a:p>
            <a:pPr algn="just">
              <a:lnSpc>
                <a:spcPct val="15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By bridging the gap between raw network data and a user-friendly dashboard, the system provides a comprehensive defense mechanism against common network-based attacks like DDoS and unauthorized scanning.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Key Achievements: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Real-time Responsiveness: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Achieved seamless data flow from Sniffer to Mitigator.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Automation: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Reduced human intervention time by automating IP blocking.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Visibility: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Provided a clear graphical interface for monitoring network health.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754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6E6EC-0703-EA0C-2022-485AEC8FB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304800"/>
            <a:ext cx="4127500" cy="507831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Achieved SDG Goals</a:t>
            </a:r>
            <a:endParaRPr lang="en-IN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D4B726-DE85-7143-EBD9-AE61268C3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765" y="2939106"/>
            <a:ext cx="1231639" cy="12191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1F6E6F-EFB8-FDF4-E63E-64DB691A4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766" y="4506614"/>
            <a:ext cx="1211034" cy="11775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A68E0A-DBA4-73FD-109C-2AD99B86D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99" y="1371600"/>
            <a:ext cx="1254321" cy="1219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0F4C44-361F-7B7F-42FB-136BDFFE5FAE}"/>
              </a:ext>
            </a:extLst>
          </p:cNvPr>
          <p:cNvSpPr txBox="1"/>
          <p:nvPr/>
        </p:nvSpPr>
        <p:spPr>
          <a:xfrm>
            <a:off x="2819400" y="1796534"/>
            <a:ext cx="487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SDG 9:Industry, Innovation and Infrastructure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66162F-AB9B-9E71-B17C-AF17CF60C289}"/>
              </a:ext>
            </a:extLst>
          </p:cNvPr>
          <p:cNvSpPr txBox="1"/>
          <p:nvPr/>
        </p:nvSpPr>
        <p:spPr>
          <a:xfrm>
            <a:off x="2819400" y="3364039"/>
            <a:ext cx="510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SDG 11: Sustainable Cities and Communication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12B6DD-BC8C-2639-2FD6-667F038A66E1}"/>
              </a:ext>
            </a:extLst>
          </p:cNvPr>
          <p:cNvSpPr txBox="1"/>
          <p:nvPr/>
        </p:nvSpPr>
        <p:spPr>
          <a:xfrm>
            <a:off x="2799347" y="4910744"/>
            <a:ext cx="5351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SDG 16: Peace, Justice and Strong Institutions</a:t>
            </a:r>
          </a:p>
        </p:txBody>
      </p:sp>
    </p:spTree>
    <p:extLst>
      <p:ext uri="{BB962C8B-B14F-4D97-AF65-F5344CB8AC3E}">
        <p14:creationId xmlns:p14="http://schemas.microsoft.com/office/powerpoint/2010/main" val="2100297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7C065-857A-67FC-7E71-FEB1C8C62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F545B-689A-0DC5-C657-E7C98AA68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30369"/>
            <a:ext cx="4267200" cy="507831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Enhancement</a:t>
            </a:r>
            <a:endParaRPr lang="en-IN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B5B6F-0522-DAE4-9DC1-E5ECB6212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3475" y="1676400"/>
            <a:ext cx="9925050" cy="3480440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Machine Learning: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Integrating AI to detect "Zero-Day" attacks based on behaviour rather than just thresholds.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Cloud Integration: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Expanding the Sniffer to monitor virtualized cloud environments.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Deep Packet Inspection (DPI):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Looking deeper into encrypted payloads for hidden malware.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Router Integration: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Providing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security to the LAN networks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561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13267-9CD6-1B36-B0FD-D581FF74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330369"/>
            <a:ext cx="2374900" cy="507831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D007B-66EF-D46A-F06D-9957B7EC4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300" y="1524000"/>
            <a:ext cx="10775950" cy="4924425"/>
          </a:xfrm>
        </p:spPr>
        <p:txBody>
          <a:bodyPr/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Chatterjee, A., &amp; Ahmed, B. S. (2022). IoT anomaly detection methods and applications: A survey. 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preprint arXiv:2207.09092.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🔗 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https://arxiv.org/pdf/2207.09092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Data &amp; Metadata. (2022). Anomaly detection in network traffic using machine learning for early threat detection.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🔗 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https://www.researchgate.net/publication/373443452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Zhou, H., Liu, Q., &amp; Wang, L. (2023). Anomaly detection in IoT and sensor networks: A survey. Sensors, 23(4).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🔗 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https://pmc.ncbi.nlm.nih.gov/articles/PMC9920825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Sabit, H. (2025). Artificial intelligence–based smart security system using Internet of Things for smart home applications. Electronics, 14(3), 608.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🔗 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https://www.mdpi.com/2079-9292/14/3/608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Thakur, P. (2024). Edge AI enabled IoT framework for secure smart home infrastructure. Procedia Computer Science, 231, 1047–1054.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🔗 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https://www.sciencedirect.com/science/article/pii/S1877050924009979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Repository Link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🔗 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https://github.com/hkdprojects/CyberShield-Smart-Network-Security-System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786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8E39E-3133-2BC1-0F95-6545F1F64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3475" y="1494790"/>
            <a:ext cx="9925050" cy="4247317"/>
          </a:xfrm>
        </p:spPr>
        <p:txBody>
          <a:bodyPr/>
          <a:lstStyle/>
          <a:p>
            <a:pPr algn="ctr"/>
            <a:r>
              <a:rPr lang="en-US" sz="13800" dirty="0">
                <a:latin typeface="Algerian" panose="04020705040A02060702" pitchFamily="82" charset="0"/>
              </a:rPr>
              <a:t>Thank</a:t>
            </a:r>
          </a:p>
          <a:p>
            <a:pPr algn="ctr"/>
            <a:r>
              <a:rPr lang="en-US" sz="13800" dirty="0">
                <a:latin typeface="Algerian" panose="04020705040A02060702" pitchFamily="82" charset="0"/>
              </a:rPr>
              <a:t>You</a:t>
            </a:r>
            <a:endParaRPr lang="en-IN" sz="13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624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823</TotalTime>
  <Words>1599</Words>
  <Application>Microsoft Office PowerPoint</Application>
  <PresentationFormat>Widescreen</PresentationFormat>
  <Paragraphs>223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Algerian</vt:lpstr>
      <vt:lpstr>Arial</vt:lpstr>
      <vt:lpstr>Tahoma</vt:lpstr>
      <vt:lpstr>Times New Roman</vt:lpstr>
      <vt:lpstr>Trebuchet MS</vt:lpstr>
      <vt:lpstr>Office Theme</vt:lpstr>
      <vt:lpstr>CyberShield   AI-Based Smart Network Security System</vt:lpstr>
      <vt:lpstr>Problem Statement </vt:lpstr>
      <vt:lpstr>Existing System </vt:lpstr>
      <vt:lpstr>Project Objective</vt:lpstr>
      <vt:lpstr>Project Requirements</vt:lpstr>
      <vt:lpstr>System Architecture</vt:lpstr>
      <vt:lpstr>Flow Diagram</vt:lpstr>
      <vt:lpstr>Modules of CyberShield </vt:lpstr>
      <vt:lpstr>Main</vt:lpstr>
      <vt:lpstr>Sniffer</vt:lpstr>
      <vt:lpstr>Detector</vt:lpstr>
      <vt:lpstr>Mitigator</vt:lpstr>
      <vt:lpstr>Dashboard</vt:lpstr>
      <vt:lpstr>Unit &amp; Integration Testing </vt:lpstr>
      <vt:lpstr>Functional &amp; Performance Testing </vt:lpstr>
      <vt:lpstr>Conclusion</vt:lpstr>
      <vt:lpstr>Achieved SDG Goals</vt:lpstr>
      <vt:lpstr>Future Enhancement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CyberShield AI: Smart Network Security System</dc:title>
  <dc:creator>Supreeth</dc:creator>
  <cp:lastModifiedBy>Harsha Kumar D</cp:lastModifiedBy>
  <cp:revision>24</cp:revision>
  <dcterms:created xsi:type="dcterms:W3CDTF">2026-05-14T02:56:43Z</dcterms:created>
  <dcterms:modified xsi:type="dcterms:W3CDTF">2026-05-26T16:08:20Z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2026-05-14T00:00:00Z</vt:filetime>
  </property>
  <property fmtid="{D5CDD505-2E9C-101B-9397-08002B2CF9AE}" pid="4" name="Creator">
    <vt:lpwstr>Google</vt:lpwstr>
  </property>
  <property fmtid="{D5CDD505-2E9C-101B-9397-08002B2CF9AE}" pid="5" name="LastSaved">
    <vt:filetime>2026-05-14T00:00:00Z</vt:filetime>
  </property>
</Properties>
</file>